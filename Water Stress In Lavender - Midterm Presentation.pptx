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aret Bold" charset="1" panose="00000000000000000000"/>
      <p:regular r:id="rId17"/>
    </p:embeddedFont>
    <p:embeddedFont>
      <p:font typeface="Garet" charset="1" panose="00000000000000000000"/>
      <p:regular r:id="rId18"/>
    </p:embeddedFont>
    <p:embeddedFont>
      <p:font typeface="Garet Light" charset="1" panose="00000000000000000000"/>
      <p:regular r:id="rId19"/>
    </p:embeddedFont>
    <p:embeddedFont>
      <p:font typeface="Archivo Black" charset="1" panose="020B0A03020202020B04"/>
      <p:regular r:id="rId20"/>
    </p:embeddedFont>
    <p:embeddedFont>
      <p:font typeface="Canva Sans Bold" charset="1" panose="020B0803030501040103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797433" cy="707541"/>
          </a:xfrm>
          <a:custGeom>
            <a:avLst/>
            <a:gdLst/>
            <a:ahLst/>
            <a:cxnLst/>
            <a:rect r="r" b="b" t="t" l="l"/>
            <a:pathLst>
              <a:path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609812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898839"/>
            <a:ext cx="8745564" cy="49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Aly Abdelmotaleb - Ahmed Ali - Osama Mohamed</a:t>
            </a:r>
          </a:p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968701" y="1304925"/>
            <a:ext cx="43210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 16/03/2026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85854" y="4205494"/>
            <a:ext cx="10773446" cy="230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WATER STRESS IN LAVANDER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01/11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132182" y="3494087"/>
          <a:ext cx="6298603" cy="4117975"/>
        </p:xfrm>
        <a:graphic>
          <a:graphicData uri="http://schemas.openxmlformats.org/drawingml/2006/table">
            <a:tbl>
              <a:tblPr/>
              <a:tblGrid>
                <a:gridCol w="707239"/>
                <a:gridCol w="4805219"/>
              </a:tblGrid>
              <a:tr h="8261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Overview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Dataset Segmentation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approaches for this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Upcomming work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5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Summary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4641" y="2439692"/>
            <a:ext cx="653146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38218" y="1193890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02/11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095936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07737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19538" y="540460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1159450" y="-14097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557564"/>
            <a:ext cx="7279037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82445" y="981075"/>
            <a:ext cx="287685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571897"/>
            <a:ext cx="8823356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Detecting water stress in lavender plants traditionally relies on chemical analysis. To provide a faster alternative, our project uses deep learning and image classification to observe early morphological changes in the plants. We aim to develop a reliable model that can detect these early visual markers of stress directly from images, completely bypassing the need for chemical testing.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485037"/>
            <a:ext cx="380699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Goal 1: Classify Stress vs. No Stress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40501" y="6485037"/>
            <a:ext cx="380699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Goal 2: Extract Visual Features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4020" y="7329363"/>
            <a:ext cx="501635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Develop a reliable image classification model to determine whether a plant has undergone water stress or not.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35821" y="7346629"/>
            <a:ext cx="501635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Identify the specific visual elements in the plant images that indicate water stress using activation maps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52302" y="6485037"/>
            <a:ext cx="380699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Goal 3: Enable Early Detection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52329" y="7329363"/>
            <a:ext cx="501635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Extract key early markers that could allow a real observer to quickly identify water stress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894772" y="3066155"/>
            <a:ext cx="5188671" cy="5188671"/>
          </a:xfrm>
          <a:custGeom>
            <a:avLst/>
            <a:gdLst/>
            <a:ahLst/>
            <a:cxnLst/>
            <a:rect r="r" b="b" t="t" l="l"/>
            <a:pathLst>
              <a:path h="5188671" w="5188671">
                <a:moveTo>
                  <a:pt x="0" y="0"/>
                </a:moveTo>
                <a:lnTo>
                  <a:pt x="5188671" y="0"/>
                </a:lnTo>
                <a:lnTo>
                  <a:pt x="5188671" y="5188671"/>
                </a:lnTo>
                <a:lnTo>
                  <a:pt x="0" y="5188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161405"/>
            <a:ext cx="72033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Set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234879"/>
            <a:ext cx="8007440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Goal: Detect water stress in lavender plants from images by identifying early visual changes.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60 lavender plants (different varieties)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3 water stress levels: S50, S25, S10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Images captured at: T0, T2, T4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Dataset size decreases over time (60 → 52 → 32) due to sampling for analysis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028700" y="4292535"/>
            <a:ext cx="13838306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5074698" y="3103895"/>
            <a:ext cx="1629446" cy="2396244"/>
          </a:xfrm>
          <a:custGeom>
            <a:avLst/>
            <a:gdLst/>
            <a:ahLst/>
            <a:cxnLst/>
            <a:rect r="r" b="b" t="t" l="l"/>
            <a:pathLst>
              <a:path h="2396244" w="1629446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62887"/>
            <a:ext cx="568354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Preprocessing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05/11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67082" y="5640615"/>
            <a:ext cx="2277734" cy="1177392"/>
            <a:chOff x="0" y="0"/>
            <a:chExt cx="3036979" cy="15698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28575"/>
              <a:ext cx="30369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First Step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22859"/>
              <a:ext cx="3036979" cy="946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Analyze the dataset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005388" y="5640615"/>
            <a:ext cx="2277734" cy="1177392"/>
            <a:chOff x="0" y="0"/>
            <a:chExt cx="3036979" cy="156985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28575"/>
              <a:ext cx="30369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Second Step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22859"/>
              <a:ext cx="3036979" cy="946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Standardize the Images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82075" y="5640615"/>
            <a:ext cx="2277734" cy="1177392"/>
            <a:chOff x="0" y="0"/>
            <a:chExt cx="3036979" cy="156985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28575"/>
              <a:ext cx="30369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Third Step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622859"/>
              <a:ext cx="3036979" cy="946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Unify the image sizes 1024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963582" y="5640615"/>
            <a:ext cx="4123962" cy="815442"/>
            <a:chOff x="0" y="0"/>
            <a:chExt cx="5498615" cy="1087256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28575"/>
              <a:ext cx="5498615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Fourth Step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622859"/>
              <a:ext cx="5498615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Split the Dataset 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28700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005388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982075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958763" y="4102116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162887"/>
            <a:ext cx="568354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Preprocessing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043841"/>
            <a:ext cx="7872742" cy="66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08"/>
              </a:lnSpc>
              <a:spcBef>
                <a:spcPct val="0"/>
              </a:spcBef>
            </a:pPr>
            <a:r>
              <a:rPr lang="en-US" sz="5008" spc="-39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Splitting the Data Set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3673969" y="3734451"/>
          <a:ext cx="10454945" cy="3285548"/>
        </p:xfrm>
        <a:graphic>
          <a:graphicData uri="http://schemas.openxmlformats.org/drawingml/2006/table">
            <a:tbl>
              <a:tblPr/>
              <a:tblGrid>
                <a:gridCol w="2613736"/>
                <a:gridCol w="2571189"/>
                <a:gridCol w="2656284"/>
                <a:gridCol w="2613736"/>
              </a:tblGrid>
              <a:tr h="8213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</a:t>
                      </a:r>
                      <a:r>
                        <a:rPr lang="en-US" sz="20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ime / Stress level 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S50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S25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S10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</a:tr>
              <a:tr h="8213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---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Not Stressed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Not stressed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3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Not Stressed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Stressed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Stressed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3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Not Stressed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Stressed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Stressed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860368" y="3467512"/>
            <a:ext cx="7520273" cy="3746312"/>
            <a:chOff x="0" y="0"/>
            <a:chExt cx="1631599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1599" cy="812800"/>
            </a:xfrm>
            <a:custGeom>
              <a:avLst/>
              <a:gdLst/>
              <a:ahLst/>
              <a:cxnLst/>
              <a:rect r="r" b="b" t="t" l="l"/>
              <a:pathLst>
                <a:path h="812800" w="1631599">
                  <a:moveTo>
                    <a:pt x="0" y="0"/>
                  </a:moveTo>
                  <a:lnTo>
                    <a:pt x="1631599" y="0"/>
                  </a:lnTo>
                  <a:lnTo>
                    <a:pt x="163159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319" t="0" r="-319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35853" y="1283018"/>
            <a:ext cx="7203393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Approaches for the classification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07/11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189993"/>
            <a:ext cx="8007440" cy="370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rchitecture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Custom 4-block CNN (Conv →  BatchNorm →  ReLU → MaxPool) with a 512-unit fully connected classifier and 50% dropout.</a:t>
            </a:r>
          </a:p>
          <a:p>
            <a:pPr algn="l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Validation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5-Fold Stratified Cross-Validation to maintain class balance.</a:t>
            </a:r>
          </a:p>
          <a:p>
            <a:pPr algn="l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Results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Mean accuracy of 62.57% with a standard deviation of ~7%. Performance swings significantly across splits, from 52.1% (Fold 5) to 70.8% (Fold 3).</a:t>
            </a:r>
          </a:p>
          <a:p>
            <a:pPr algn="l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which implies a little bit of overfitting in that case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35853" y="3222253"/>
            <a:ext cx="7203393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spc="-28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1- Simple Approach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115988" y="1678809"/>
            <a:ext cx="5378563" cy="6929383"/>
          </a:xfrm>
          <a:custGeom>
            <a:avLst/>
            <a:gdLst/>
            <a:ahLst/>
            <a:cxnLst/>
            <a:rect r="r" b="b" t="t" l="l"/>
            <a:pathLst>
              <a:path h="6929383" w="5378563">
                <a:moveTo>
                  <a:pt x="0" y="0"/>
                </a:moveTo>
                <a:lnTo>
                  <a:pt x="5378564" y="0"/>
                </a:lnTo>
                <a:lnTo>
                  <a:pt x="5378564" y="6929382"/>
                </a:lnTo>
                <a:lnTo>
                  <a:pt x="0" y="69293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283018"/>
            <a:ext cx="7203393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Approaches for the classification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860147"/>
            <a:ext cx="8726952" cy="445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rchitecture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EfficientNet-B0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pretrained on ImageNet, fine-tuned with a </a:t>
            </a: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two-stage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strategy. The backbone is first frozen while only the custom head (Linear 1280 → 2) is trained, then the </a:t>
            </a: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last convolutional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block is progressively unfrozen for domain adaptation with differential learning rates (backbone: 1e-4, head: 1e-3).</a:t>
            </a:r>
          </a:p>
          <a:p>
            <a:pPr algn="l">
              <a:lnSpc>
                <a:spcPts val="2939"/>
              </a:lnSpc>
            </a:pP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Validation &amp; Training Setup: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5-fold stratified cross-validation was used to preserve class balance, with heavy augmentation (flips, rotation, color jitter, blur, random erasing) to combat overfitting on the small 118-image dataset.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3716" y="3137790"/>
            <a:ext cx="7203393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spc="-28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2- Transfer Learning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30157" y="2975258"/>
            <a:ext cx="8489248" cy="4202178"/>
          </a:xfrm>
          <a:custGeom>
            <a:avLst/>
            <a:gdLst/>
            <a:ahLst/>
            <a:cxnLst/>
            <a:rect r="r" b="b" t="t" l="l"/>
            <a:pathLst>
              <a:path h="4202178" w="8489248">
                <a:moveTo>
                  <a:pt x="0" y="0"/>
                </a:moveTo>
                <a:lnTo>
                  <a:pt x="8489248" y="0"/>
                </a:lnTo>
                <a:lnTo>
                  <a:pt x="8489248" y="4202178"/>
                </a:lnTo>
                <a:lnTo>
                  <a:pt x="0" y="42021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283018"/>
            <a:ext cx="7203393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Approaches for the classification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355487"/>
            <a:ext cx="8601457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Results: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 model achieved a mean accuracy of </a:t>
            </a: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67.83% (±6.1%). 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Performance was inconsistent across folds, ranging from </a:t>
            </a: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58.3%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to </a:t>
            </a: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75.0%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with the stressed class being the hardest to detect likely due to </a:t>
            </a: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class imbalance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and the very limited ~94 training images per fold. These results are consistent with those observed in the simpler baseline approach, yielding </a:t>
            </a: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similar accuracies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and class-level trends.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3716" y="3137790"/>
            <a:ext cx="7203393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 spc="-28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2- Transfer Learning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739036"/>
            <a:ext cx="7203393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Upcomming 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10/11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3819982"/>
            <a:ext cx="16501336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Optimize Transfer Learning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Experiment with different pre-trained architectures and fine-tuning strategies to stabilize the model and maximize validation performance.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Refine the Custom Baseline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Fine-tune the initial simple CNN architecture to maximize its performance potential and establish a strong benchmark.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Extract Visual Markers: 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Analyze activation maps to isolate the specific morphological features the model relies on to detect water stress.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Ground-Truth Validation: 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Cross-reference the model's highlighted features with real-world botanical observations to confirm they are accurate, early indicators of stress.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58410" y="4883688"/>
            <a:ext cx="6971180" cy="123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2"/>
              </a:lnSpc>
            </a:pPr>
            <a:r>
              <a:rPr lang="en-US" sz="10900" spc="-8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11/11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397194" y="2705078"/>
            <a:ext cx="3493612" cy="1759510"/>
          </a:xfrm>
          <a:custGeom>
            <a:avLst/>
            <a:gdLst/>
            <a:ahLst/>
            <a:cxnLst/>
            <a:rect r="r" b="b" t="t" l="l"/>
            <a:pathLst>
              <a:path h="1759510" w="3493612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7397194" y="6122334"/>
            <a:ext cx="3493612" cy="1759510"/>
          </a:xfrm>
          <a:custGeom>
            <a:avLst/>
            <a:gdLst/>
            <a:ahLst/>
            <a:cxnLst/>
            <a:rect r="r" b="b" t="t" l="l"/>
            <a:pathLst>
              <a:path h="1759510" w="3493612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DAHD8MZQu5M</dc:identifier>
  <dcterms:modified xsi:type="dcterms:W3CDTF">2011-08-01T06:04:30Z</dcterms:modified>
  <cp:revision>1</cp:revision>
  <dc:title>Beige and Black Minimalist Project Deck Presentation</dc:title>
</cp:coreProperties>
</file>